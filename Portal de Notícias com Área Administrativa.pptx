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300" r:id="rId7"/>
    <p:sldId id="301" r:id="rId8"/>
    <p:sldId id="302" r:id="rId9"/>
    <p:sldId id="304" r:id="rId10"/>
    <p:sldId id="297" r:id="rId11"/>
    <p:sldId id="289" r:id="rId12"/>
    <p:sldId id="290" r:id="rId13"/>
    <p:sldId id="291" r:id="rId14"/>
    <p:sldId id="292" r:id="rId15"/>
    <p:sldId id="295" r:id="rId16"/>
    <p:sldId id="294" r:id="rId17"/>
    <p:sldId id="298" r:id="rId18"/>
    <p:sldId id="296" r:id="rId19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102" d="100"/>
          <a:sy n="102" d="100"/>
        </p:scale>
        <p:origin x="954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82" d="100"/>
          <a:sy n="82" d="100"/>
        </p:scale>
        <p:origin x="392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8D0C1F59-543C-4408-97F4-1F494461D321}" type="datetime1">
              <a:rPr lang="pt-BR" smtClean="0"/>
              <a:t>25/11/2025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AFF3A6F-DEFA-45E0-9496-BEE7C2C6F3D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C598E8C6-8B1B-4218-BD0A-BE1467626508}" type="datetime1">
              <a:rPr lang="pt-BR" smtClean="0"/>
              <a:pPr/>
              <a:t>25/11/2025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F97DC217-DF71-1A49-B3EA-559F1F43B0FF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435AF-27F8-B6F0-0640-A54B0D53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9B5914B-0196-AB2F-BB61-7212697B8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148A47B-644D-4D54-5ABE-9F6B8BBC8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6AA92CE-4A49-244E-412F-9A1EB5E70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36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3B2BE-549A-58A3-A26D-E1126D8F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CD521E79-FCAE-CF8F-D866-9D287ECDC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8A5380B8-EABF-64D1-E7C2-B56851313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2AEEE44-1C1E-31F4-677D-6D9751FE4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1799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24CC7-B6D3-D8AF-E896-7F616C24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577BBCF4-2337-7F2A-82E0-10F7BD2DF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DA1C7EF-A891-28FC-50DF-A10266A36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E0A30A0-2256-60D0-58B3-AE865F4B1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2851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FEFE-F597-8FEA-4CEC-C2C6F4AE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9057EE8-E2F1-5D55-151B-7279B52A7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26BAFDE5-08E8-6BCD-844C-65F609A97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8B01F05-D309-AEAD-606A-9565E4C33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3419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9086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F97DC217-DF71-1A49-B3EA-559F1F43B0FF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Forma Livre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9" name="Forma Livre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rtlCol="0" anchor="b">
            <a:noAutofit/>
          </a:bodyPr>
          <a:lstStyle>
            <a:lvl1pPr algn="l"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>
                <a:latin typeface="+mn-lt"/>
              </a:endParaRPr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 rtlCol="0">
            <a:norm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conteú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Forma Livre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 rtlCol="0"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pt-BR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orma Livre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17" name="Forma Livre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8" name="Forma Livre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rtlCol="0" anchor="b">
            <a:noAutofit/>
          </a:bodyPr>
          <a:lstStyle>
            <a:lvl1pPr algn="l">
              <a:defRPr lang="pt-BR"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rtlCol="0" anchor="ctr" anchorCtr="0">
            <a:noAutofit/>
          </a:bodyPr>
          <a:lstStyle>
            <a:lvl1pPr marL="0" indent="0" algn="l">
              <a:buNone/>
              <a:defRPr lang="pt-BR"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e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2 conteú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rtlCol="0" anchor="b">
            <a:noAutofit/>
          </a:bodyPr>
          <a:lstStyle>
            <a:lvl1pPr>
              <a:defRPr lang="pt-BR" sz="42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 rtlCol="0"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, Conteúdo e Imagem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3" name="Título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lang="pt-BR"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 para Imagem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 rtlCol="0"/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 lang="pt-BR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 lang="pt-BR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v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 rtlCol="0">
            <a:noAutofit/>
          </a:bodyPr>
          <a:lstStyle>
            <a:lvl1pPr marL="0" indent="0">
              <a:buNone/>
              <a:defRPr lang="pt-BR" sz="2000">
                <a:latin typeface="+mn-lt"/>
              </a:defRPr>
            </a:lvl1pPr>
            <a:lvl2pPr marL="457200" indent="0">
              <a:buNone/>
              <a:defRPr lang="pt-BR" sz="2000">
                <a:latin typeface="+mn-lt"/>
              </a:defRPr>
            </a:lvl2pPr>
            <a:lvl3pPr marL="914400" indent="0">
              <a:buNone/>
              <a:defRPr lang="pt-BR" sz="2000">
                <a:latin typeface="+mn-lt"/>
              </a:defRPr>
            </a:lvl3pPr>
            <a:lvl4pPr marL="1371600" indent="0">
              <a:buNone/>
              <a:defRPr lang="pt-BR" sz="2000">
                <a:latin typeface="+mn-lt"/>
              </a:defRPr>
            </a:lvl4pPr>
            <a:lvl5pPr marL="1828800" indent="0">
              <a:buNone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 rtlCol="0">
            <a:no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, Conteúdo e Imag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79F46B00-4AE8-52A2-6926-FC2F5DD1F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4" name="Forma Livre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rot="5400000">
              <a:off x="8580896" y="0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5" name="Forma Livre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>
              <a:off x="-2364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>
                <a:latin typeface="+mn-lt"/>
              </a:endParaRPr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2587417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orma Livre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  <p:sp>
            <p:nvSpPr>
              <p:cNvPr id="8" name="Forma Livre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>
                  <a:latin typeface="+mn-lt"/>
                </a:endParaRPr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9489" y="457199"/>
            <a:ext cx="5943599" cy="1920240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6BBDFA0C-B372-969D-6C8A-F664A4BF8D41}"/>
              </a:ext>
            </a:extLst>
          </p:cNvPr>
          <p:cNvSpPr>
            <a:spLocks noGrp="1" noChangeAspect="1"/>
          </p:cNvSpPr>
          <p:nvPr>
            <p:ph idx="17" hasCustomPrompt="1"/>
          </p:nvPr>
        </p:nvSpPr>
        <p:spPr>
          <a:xfrm>
            <a:off x="823108" y="640080"/>
            <a:ext cx="4297680" cy="4297680"/>
          </a:xfrm>
          <a:prstGeom prst="ellipse">
            <a:avLst/>
          </a:prstGeom>
          <a:solidFill>
            <a:schemeClr val="accent2"/>
          </a:solidFill>
        </p:spPr>
        <p:txBody>
          <a:bodyPr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pt-BR" sz="2000">
                <a:latin typeface="+mn-lt"/>
              </a:defRPr>
            </a:lvl1pPr>
            <a:lvl2pPr marL="347663" indent="0" algn="ctr">
              <a:buFont typeface="Arial" panose="020B0604020202020204" pitchFamily="34" charset="0"/>
              <a:buNone/>
              <a:defRPr lang="pt-BR" sz="2000">
                <a:latin typeface="+mn-lt"/>
              </a:defRPr>
            </a:lvl2pPr>
            <a:lvl3pPr marL="685800" indent="0" algn="ctr">
              <a:buFont typeface="Arial" panose="020B0604020202020204" pitchFamily="34" charset="0"/>
              <a:buNone/>
              <a:defRPr lang="pt-BR" sz="2000">
                <a:latin typeface="+mn-lt"/>
              </a:defRPr>
            </a:lvl3pPr>
            <a:lvl4pPr marL="914400" indent="0" algn="ctr">
              <a:buFont typeface="Arial" panose="020B0604020202020204" pitchFamily="34" charset="0"/>
              <a:buNone/>
              <a:defRPr lang="pt-BR" sz="2000">
                <a:latin typeface="+mn-lt"/>
              </a:defRPr>
            </a:lvl4pPr>
            <a:lvl5pPr marL="1143000" indent="0" algn="ctr">
              <a:buFont typeface="Arial" panose="020B0604020202020204" pitchFamily="34" charset="0"/>
              <a:buNone/>
              <a:defRPr lang="pt-BR" sz="20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A8D2CC-EE75-85FA-1577-88C0BEC7B10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549490" y="2706369"/>
            <a:ext cx="5943600" cy="3383279"/>
          </a:xfrm>
        </p:spPr>
        <p:txBody>
          <a:bodyPr rtlCol="0">
            <a:normAutofit/>
          </a:bodyPr>
          <a:lstStyle>
            <a:lvl1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tx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tx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tx1"/>
                </a:solidFill>
                <a:latin typeface="+mn-lt"/>
              </a:defRPr>
            </a:lvl3pPr>
            <a:lvl4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tx1"/>
                </a:solidFill>
                <a:latin typeface="+mn-lt"/>
              </a:defRPr>
            </a:lvl4pPr>
            <a:lvl5pPr marL="1463040" indent="-283464">
              <a:spcBef>
                <a:spcPts val="1000"/>
              </a:spcBef>
              <a:buFont typeface="Arial" panose="020B0604020202020204" pitchFamily="34" charset="0"/>
              <a:buChar char="•"/>
              <a:defRPr lang="pt-BR" sz="2000">
                <a:solidFill>
                  <a:schemeClr val="tx1"/>
                </a:solidFill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525656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áfico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orma Livre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Forma Livre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rtlCol="0" anchor="b">
            <a:noAutofit/>
          </a:bodyPr>
          <a:lstStyle>
            <a:lvl1pPr>
              <a:defRPr lang="pt-BR" sz="42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 lang="pt-BR">
                <a:latin typeface="+mn-lt"/>
              </a:defRPr>
            </a:lvl1pPr>
            <a:lvl2pPr marL="457200" indent="0">
              <a:buNone/>
              <a:defRPr lang="pt-BR">
                <a:latin typeface="+mn-lt"/>
              </a:defRPr>
            </a:lvl2pPr>
            <a:lvl3pPr marL="914400" indent="0">
              <a:buNone/>
              <a:defRPr lang="pt-BR">
                <a:latin typeface="+mn-lt"/>
              </a:defRPr>
            </a:lvl3pPr>
            <a:lvl4pPr marL="1371600" indent="0">
              <a:buNone/>
              <a:defRPr lang="pt-BR">
                <a:latin typeface="+mn-lt"/>
              </a:defRPr>
            </a:lvl4pPr>
            <a:lvl5pPr marL="1828800" indent="0">
              <a:buNone/>
              <a:defRPr lang="pt-BR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Data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11" name="Espaço Reservado para Rodapé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12" name="Espaço Reservado para o Número do Slide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orma Livre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Forma Livre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  <p:sp>
          <p:nvSpPr>
            <p:cNvPr id="22" name="Forma Livre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7" name="Forma Livre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Autofit/>
          </a:bodyPr>
          <a:lstStyle>
            <a:lvl1pPr algn="l">
              <a:defRPr lang="pt-BR" sz="6000" b="1">
                <a:latin typeface="+mj-lt"/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rtlCol="0" anchor="t" anchorCtr="0">
            <a:normAutofit/>
          </a:bodyPr>
          <a:lstStyle>
            <a:lvl1pPr marL="0" indent="0" algn="l">
              <a:buNone/>
              <a:defRPr lang="pt-BR" sz="2800">
                <a:latin typeface="+mn-lt"/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pt-BR"/>
              <a:t>8/9/20XX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pt-BR"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5" r:id="rId7"/>
    <p:sldLayoutId id="2147483677" r:id="rId8"/>
    <p:sldLayoutId id="2147483676" r:id="rId9"/>
    <p:sldLayoutId id="2147483661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pt-BR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 rtlCol="0"/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Portal de Notícias com Área Administrativa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Proposta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Criar um </a:t>
            </a:r>
            <a:r>
              <a:rPr lang="pt-BR" b="1" dirty="0"/>
              <a:t>portal de notícias simples</a:t>
            </a:r>
            <a:r>
              <a:rPr lang="pt-BR" dirty="0"/>
              <a:t>, acessível pelo navegador.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Ter </a:t>
            </a:r>
            <a:r>
              <a:rPr lang="pt-BR" b="1" dirty="0"/>
              <a:t>área pública</a:t>
            </a:r>
            <a:r>
              <a:rPr lang="pt-BR" dirty="0"/>
              <a:t> para visualização das notícias.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Ter </a:t>
            </a:r>
            <a:r>
              <a:rPr lang="pt-BR" b="1" dirty="0"/>
              <a:t>área administrativa</a:t>
            </a:r>
            <a:r>
              <a:rPr lang="pt-BR" dirty="0"/>
              <a:t> protegida por login.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Permitir </a:t>
            </a:r>
            <a:r>
              <a:rPr lang="pt-BR" b="1" dirty="0"/>
              <a:t>cadastro, edição e exclusão</a:t>
            </a:r>
            <a:r>
              <a:rPr lang="pt-BR" dirty="0"/>
              <a:t> de notícias (CRUD).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Permitir </a:t>
            </a:r>
            <a:r>
              <a:rPr lang="pt-BR" b="1" dirty="0"/>
              <a:t>cadastro de usuários comuns</a:t>
            </a:r>
            <a:r>
              <a:rPr lang="pt-BR" dirty="0"/>
              <a:t> e </a:t>
            </a:r>
            <a:r>
              <a:rPr lang="pt-BR" b="1" dirty="0"/>
              <a:t>usuário administrador</a:t>
            </a:r>
            <a:r>
              <a:rPr lang="pt-BR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FF4B1-FCE3-EC2B-E763-35C5B0D1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9DAE6-42A7-489A-4BDC-CEC91410C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Tecnologias Utilizadas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97DD4C-3413-C1EA-84C9-F0C656912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Back-</a:t>
            </a:r>
            <a:r>
              <a:rPr lang="pt-BR" dirty="0" err="1"/>
              <a:t>end</a:t>
            </a:r>
            <a:r>
              <a:rPr lang="pt-BR" dirty="0"/>
              <a:t>: PHP</a:t>
            </a:r>
            <a:endParaRPr 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Banco de Dados:  MySQL</a:t>
            </a:r>
            <a:endParaRPr lang="pt-BR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Front-</a:t>
            </a:r>
            <a:r>
              <a:rPr lang="pt-BR" dirty="0" err="1"/>
              <a:t>end</a:t>
            </a:r>
            <a:r>
              <a:rPr lang="pt-BR" dirty="0"/>
              <a:t>: HTML – CSS – </a:t>
            </a:r>
            <a:r>
              <a:rPr lang="pt-BR" dirty="0" err="1"/>
              <a:t>JavaScript</a:t>
            </a:r>
            <a:endParaRPr lang="pt-BR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2574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D88F3-EDF6-7249-E592-1D6A04B1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ADBF4-B6B8-3A2D-DBB5-C653785B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3" y="-405483"/>
            <a:ext cx="9779183" cy="174441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Modelo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F30F6-EDF6-A196-31ED-DC71F4BF9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3" y="1484067"/>
            <a:ext cx="10699761" cy="464050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>
            <a:defPPr>
              <a:defRPr lang="pt-BR"/>
            </a:def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b="1" dirty="0"/>
              <a:t>Banco:</a:t>
            </a:r>
            <a:r>
              <a:rPr lang="pt-BR" dirty="0"/>
              <a:t> </a:t>
            </a:r>
            <a:r>
              <a:rPr lang="pt-BR" dirty="0" err="1"/>
              <a:t>portal_noticias</a:t>
            </a:r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Tabela </a:t>
            </a:r>
            <a:r>
              <a:rPr lang="pt-BR" b="1" dirty="0" err="1"/>
              <a:t>usuarios</a:t>
            </a:r>
            <a:r>
              <a:rPr lang="pt-BR" b="1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id (PK, int, </a:t>
            </a:r>
            <a:r>
              <a:rPr lang="en-US" dirty="0" err="1"/>
              <a:t>auto_increment</a:t>
            </a:r>
            <a:r>
              <a:rPr lang="en-US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/>
              <a:t>nome (</a:t>
            </a:r>
            <a:r>
              <a:rPr lang="pt-BR" dirty="0" err="1"/>
              <a:t>varchar</a:t>
            </a:r>
            <a:r>
              <a:rPr lang="pt-BR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 err="1"/>
              <a:t>email</a:t>
            </a:r>
            <a:r>
              <a:rPr lang="pt-BR" dirty="0"/>
              <a:t> (</a:t>
            </a:r>
            <a:r>
              <a:rPr lang="pt-BR" dirty="0" err="1"/>
              <a:t>varchar</a:t>
            </a:r>
            <a:r>
              <a:rPr lang="pt-BR" dirty="0"/>
              <a:t>, único)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 err="1"/>
              <a:t>senha</a:t>
            </a:r>
            <a:r>
              <a:rPr lang="en-US" dirty="0"/>
              <a:t> (varchar, hash com </a:t>
            </a:r>
            <a:r>
              <a:rPr lang="en-US" dirty="0" err="1"/>
              <a:t>password_hash</a:t>
            </a:r>
            <a:r>
              <a:rPr lang="en-US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/>
              <a:t>tipo (enum: 'admin' ou 'editor’)</a:t>
            </a:r>
            <a:endParaRPr lang="pt-BR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Tabela </a:t>
            </a:r>
            <a:r>
              <a:rPr lang="pt-BR" b="1" dirty="0"/>
              <a:t>noticias: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id (PK, int, </a:t>
            </a:r>
            <a:r>
              <a:rPr lang="en-US" dirty="0" err="1"/>
              <a:t>auto_increment</a:t>
            </a:r>
            <a:r>
              <a:rPr lang="en-US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/>
              <a:t>titulo (</a:t>
            </a:r>
            <a:r>
              <a:rPr lang="pt-BR" dirty="0" err="1"/>
              <a:t>varchar</a:t>
            </a:r>
            <a:r>
              <a:rPr lang="pt-BR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 err="1"/>
              <a:t>conteudo</a:t>
            </a:r>
            <a:r>
              <a:rPr lang="pt-BR" dirty="0"/>
              <a:t> (</a:t>
            </a:r>
            <a:r>
              <a:rPr lang="pt-BR" dirty="0" err="1"/>
              <a:t>text</a:t>
            </a:r>
            <a:r>
              <a:rPr lang="pt-BR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/>
              <a:t>categoria (</a:t>
            </a:r>
            <a:r>
              <a:rPr lang="pt-BR" dirty="0" err="1"/>
              <a:t>varchar</a:t>
            </a:r>
            <a:r>
              <a:rPr lang="pt-BR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 err="1"/>
              <a:t>data_publicacao</a:t>
            </a:r>
            <a:r>
              <a:rPr lang="pt-BR" dirty="0"/>
              <a:t> (</a:t>
            </a:r>
            <a:r>
              <a:rPr lang="pt-BR" dirty="0" err="1"/>
              <a:t>datetime</a:t>
            </a:r>
            <a:r>
              <a:rPr lang="pt-BR" dirty="0"/>
              <a:t>, padrão </a:t>
            </a:r>
            <a:r>
              <a:rPr lang="pt-BR" dirty="0" err="1"/>
              <a:t>current_timestamp</a:t>
            </a:r>
            <a:r>
              <a:rPr lang="pt-BR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/>
              <a:t>destaque (</a:t>
            </a:r>
            <a:r>
              <a:rPr lang="pt-BR" dirty="0" err="1"/>
              <a:t>tinyint</a:t>
            </a:r>
            <a:r>
              <a:rPr lang="pt-BR" dirty="0"/>
              <a:t>, 0 ou 1)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ES" dirty="0" err="1"/>
              <a:t>autor_id</a:t>
            </a:r>
            <a:r>
              <a:rPr lang="es-ES" dirty="0"/>
              <a:t> (FK para </a:t>
            </a:r>
            <a:r>
              <a:rPr lang="es-ES" dirty="0" err="1"/>
              <a:t>usuarios.id</a:t>
            </a:r>
            <a:r>
              <a:rPr lang="es-ES" dirty="0"/>
              <a:t>)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79601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D74D5-F3E0-999D-FB07-002088408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F89FD-60F9-263C-4191-09EC65FB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Funcionamento da Área Pública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1D0558-7934-2028-BED0-6D0F1C1D5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/>
              <a:t>Página inicial</a:t>
            </a:r>
            <a:r>
              <a:rPr lang="pt-BR" sz="2000" b="1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000" dirty="0"/>
              <a:t>Lista </a:t>
            </a:r>
            <a:r>
              <a:rPr lang="pt-BR" sz="2000" b="1" dirty="0"/>
              <a:t>notícias em destaque</a:t>
            </a:r>
            <a:r>
              <a:rPr lang="pt-BR" sz="2000" dirty="0"/>
              <a:t> (até 3 itens)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000" dirty="0"/>
              <a:t>Lista </a:t>
            </a:r>
            <a:r>
              <a:rPr lang="pt-BR" sz="2000" b="1" dirty="0"/>
              <a:t>últimas notícias</a:t>
            </a:r>
            <a:r>
              <a:rPr lang="pt-BR" sz="2000" dirty="0"/>
              <a:t> cadastradas</a:t>
            </a:r>
          </a:p>
          <a:p>
            <a:pPr lvl="1"/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/>
              <a:t>Página </a:t>
            </a:r>
            <a:r>
              <a:rPr lang="pt-BR" sz="2000" b="1" dirty="0"/>
              <a:t>de detalhes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000" dirty="0"/>
              <a:t>Mostra título, categoria, autor e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000" dirty="0"/>
              <a:t>Mostra o texto completo da notícia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000" dirty="0"/>
              <a:t>Qualquer visitante pode acessar, </a:t>
            </a:r>
            <a:r>
              <a:rPr lang="pt-BR" sz="2000" b="1" dirty="0"/>
              <a:t>sem login</a:t>
            </a:r>
            <a:r>
              <a:rPr lang="pt-BR" sz="2000" dirty="0"/>
              <a:t>.</a:t>
            </a:r>
            <a:endParaRPr lang="pt-BR" sz="2000" b="1" dirty="0"/>
          </a:p>
          <a:p>
            <a:pPr lvl="1"/>
            <a:endParaRPr lang="pt-BR" sz="2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205355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1D4B-1D80-ACDB-0635-BE7E10776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6BF0-06BB-4972-1783-737D3AA8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Cadastro de Usuário Comum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ED3586-B24A-4CF6-DC6D-A13A08DE8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51" y="2074028"/>
            <a:ext cx="9779182" cy="5533403"/>
          </a:xfr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dirty="0"/>
              <a:t>Tela de cadastro </a:t>
            </a:r>
            <a:r>
              <a:rPr lang="pt-BR" b="1" dirty="0"/>
              <a:t>(</a:t>
            </a:r>
            <a:r>
              <a:rPr lang="pt-BR" b="1" dirty="0" err="1"/>
              <a:t>cadastro.php</a:t>
            </a:r>
            <a:r>
              <a:rPr lang="pt-BR" b="1" dirty="0"/>
              <a:t>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BR" sz="2400" dirty="0"/>
              <a:t>Campos: nome, </a:t>
            </a:r>
            <a:r>
              <a:rPr lang="pt-BR" sz="2400" dirty="0" err="1"/>
              <a:t>email</a:t>
            </a:r>
            <a:r>
              <a:rPr lang="pt-BR" sz="2400" dirty="0"/>
              <a:t>, senha, confirmação de senha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pt-BR" sz="2400" dirty="0"/>
              <a:t>Verificações: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pt-BR" sz="2400" dirty="0"/>
              <a:t>Todos os campos preenchidos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pt-BR" sz="2400" dirty="0"/>
              <a:t>Senha com tamanho mínimo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pt-BR" sz="2400" dirty="0"/>
              <a:t>Senha igual à confirmação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pt-BR" sz="2400" dirty="0"/>
              <a:t>Email não pode estar duplicado</a:t>
            </a:r>
            <a:endParaRPr lang="en-US" sz="2400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pt-BR" sz="2400" dirty="0"/>
              <a:t>Usuários cadastrados são gravados com tipo editor</a:t>
            </a:r>
          </a:p>
        </p:txBody>
      </p:sp>
    </p:spTree>
    <p:extLst>
      <p:ext uri="{BB962C8B-B14F-4D97-AF65-F5344CB8AC3E}">
        <p14:creationId xmlns:p14="http://schemas.microsoft.com/office/powerpoint/2010/main" val="3085342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77553"/>
            <a:ext cx="5277269" cy="326944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Selecionando auxílios visuais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2C8177-F0B6-B02C-3682-183D8307E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492896"/>
            <a:ext cx="6245912" cy="9128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Aprimorando sua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Envolvendo a audiência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Faça contato visual com seu público para criar uma sensação de intimidade e envolvimento</a:t>
            </a:r>
          </a:p>
          <a:p>
            <a:pPr rtl="0"/>
            <a:r>
              <a:rPr lang="pt-BR"/>
              <a:t>Inclua histórias que possam ser relacionadas em sua apresentação usando narrativas que tornem sua mensagem memorável e impactante</a:t>
            </a:r>
          </a:p>
          <a:p>
            <a:pPr rtl="0"/>
            <a:r>
              <a:rPr lang="pt-BR"/>
              <a:t>Incentive perguntas e forneça respostas cuidadosas para aprimorar a participação do público</a:t>
            </a:r>
          </a:p>
          <a:p>
            <a:pPr rtl="0"/>
            <a:r>
              <a:rPr lang="pt-BR"/>
              <a:t>Use votações ou pesquisas ao vivo para coletar opiniões do público, promovendo o engajamento e garantindo que todos se sintam envolvidos.</a:t>
            </a: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Técnicas de apresentação eficazes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Essa é uma ferramenta poderosa para falar em público. Envolve a variação de tom, timbre e volume para transmitir emoção, enfatizar pontos e manter o interesse: </a:t>
            </a:r>
          </a:p>
          <a:p>
            <a:pPr lvl="1" rtl="0"/>
            <a:r>
              <a:rPr lang="pt-BR" dirty="0"/>
              <a:t>Variação do tom</a:t>
            </a:r>
          </a:p>
          <a:p>
            <a:pPr lvl="1" rtl="0"/>
            <a:r>
              <a:rPr lang="pt-BR" dirty="0"/>
              <a:t>Inflexão do tom</a:t>
            </a:r>
          </a:p>
          <a:p>
            <a:pPr lvl="1" rtl="0"/>
            <a:r>
              <a:rPr lang="pt-BR" dirty="0"/>
              <a:t>Controle de volume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023984"/>
            <a:ext cx="4663440" cy="333283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Uma linguagem corporal eficaz aprimora sua mensagem, tornando-a mais impactante e memorável:</a:t>
            </a:r>
          </a:p>
          <a:p>
            <a:pPr lvl="1" rtl="0"/>
            <a:r>
              <a:rPr lang="pt-BR" dirty="0"/>
              <a:t>Contato visual significativo</a:t>
            </a:r>
          </a:p>
          <a:p>
            <a:pPr lvl="1" rtl="0"/>
            <a:r>
              <a:rPr lang="pt-BR" dirty="0"/>
              <a:t>Gestos intencionais</a:t>
            </a:r>
          </a:p>
          <a:p>
            <a:pPr lvl="1" rtl="0"/>
            <a:r>
              <a:rPr lang="pt-BR" dirty="0"/>
              <a:t>Manter uma boa postura</a:t>
            </a:r>
          </a:p>
          <a:p>
            <a:pPr lvl="1" rtl="0"/>
            <a:r>
              <a:rPr lang="pt-BR" dirty="0"/>
              <a:t>Controle suas expressões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70656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Navegando em sessões de P e 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6813" y="2024063"/>
            <a:ext cx="4664075" cy="333216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Conheça seu material com antecedência</a:t>
            </a:r>
          </a:p>
          <a:p>
            <a:pPr rtl="0"/>
            <a:r>
              <a:rPr lang="pt-BR" dirty="0"/>
              <a:t>Preveja perguntas comuns</a:t>
            </a:r>
          </a:p>
          <a:p>
            <a:pPr rtl="0"/>
            <a:r>
              <a:rPr lang="pt-BR" dirty="0"/>
              <a:t>Ensaiar suas respostas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83325" y="2024063"/>
            <a:ext cx="4664075" cy="3332162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Manter a compostura durante a sessão de P e R é essencial para projetar confiança e autoridade. Considere as seguintes dicas para manter a compostura:</a:t>
            </a:r>
          </a:p>
          <a:p>
            <a:pPr lvl="1" rtl="0"/>
            <a:r>
              <a:rPr lang="pt-BR" dirty="0"/>
              <a:t>Fique tranquilo</a:t>
            </a:r>
          </a:p>
          <a:p>
            <a:pPr lvl="1" rtl="0"/>
            <a:r>
              <a:rPr lang="pt-BR" dirty="0"/>
              <a:t>Ouça ativamente</a:t>
            </a:r>
          </a:p>
          <a:p>
            <a:pPr lvl="1" rtl="0"/>
            <a:r>
              <a:rPr lang="pt-BR" dirty="0"/>
              <a:t>Pause e reflita</a:t>
            </a:r>
          </a:p>
          <a:p>
            <a:pPr lvl="1" rtl="0"/>
            <a:r>
              <a:rPr lang="pt-BR" dirty="0"/>
              <a:t>Mantenha contato visual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10643508" cy="13716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Impacto ao falar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5DDE7C-335B-FD23-E1E6-CDCB99B7878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166813" y="2652713"/>
            <a:ext cx="5394325" cy="343693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Sua capacidade de se comunicar efetivamente deixará um impacto duradouro no seu público</a:t>
            </a:r>
          </a:p>
          <a:p>
            <a:pPr rtl="0"/>
            <a:r>
              <a:rPr lang="pt-BR"/>
              <a:t>A comunicação eficaz envolve não apenas a entrega de uma mensagem, mas também a ressonância com as experiências, os valores e as emoções de quem está ouvindo </a:t>
            </a:r>
          </a:p>
        </p:txBody>
      </p:sp>
      <p:pic>
        <p:nvPicPr>
          <p:cNvPr id="25" name="Espaço Reservado para Imagem 24" descr="Duas pessoas olhando para um computador">
            <a:extLst>
              <a:ext uri="{FF2B5EF4-FFF2-40B4-BE49-F238E27FC236}">
                <a16:creationId xmlns:a16="http://schemas.microsoft.com/office/drawing/2014/main" id="{E57751D1-D655-B1C0-2407-A8826F55102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667" r="16667"/>
          <a:stretch/>
        </p:blipFill>
        <p:spPr>
          <a:xfrm>
            <a:off x="7317920" y="1447800"/>
            <a:ext cx="4214010" cy="4214010"/>
          </a:xfrm>
        </p:spPr>
      </p:pic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7200"/>
            <a:ext cx="9692640" cy="13716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Entrega dinâmica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E9A705-E123-1C6C-EC93-CEE377B741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167493" y="2087561"/>
            <a:ext cx="2693306" cy="389054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Aprenda a infundir energia em sua apresentação para deixar uma impressão duradoura</a:t>
            </a:r>
          </a:p>
          <a:p>
            <a:pPr rtl="0"/>
            <a:r>
              <a:rPr lang="pt-BR"/>
              <a:t>Um dos objetivos de uma comunicação eficaz é motivar seu público</a:t>
            </a:r>
          </a:p>
          <a:p>
            <a:pPr rtl="0"/>
            <a:endParaRPr lang="pt-BR" dirty="0"/>
          </a:p>
        </p:txBody>
      </p:sp>
      <p:graphicFrame>
        <p:nvGraphicFramePr>
          <p:cNvPr id="5" name="Espaço Reservado para Tabela 2">
            <a:extLst>
              <a:ext uri="{FF2B5EF4-FFF2-40B4-BE49-F238E27FC236}">
                <a16:creationId xmlns:a16="http://schemas.microsoft.com/office/drawing/2014/main" id="{FD8D3D14-313E-8ED7-7BE9-2E3D506F17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0325819"/>
              </p:ext>
            </p:extLst>
          </p:nvPr>
        </p:nvGraphicFramePr>
        <p:xfrm>
          <a:off x="4216400" y="2087563"/>
          <a:ext cx="6771640" cy="396905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0975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91277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278293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470816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8693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sz="1800"/>
                        <a:t>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sz="1800" dirty="0"/>
                        <a:t>Medida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sz="1800" dirty="0"/>
                        <a:t>Meta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sz="1800"/>
                        <a:t>Real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1246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Participação do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Nº de participantes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1246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Duração do compromisso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Minutos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6937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Interação de P e R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Nº de perguntas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1246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Comentários positivos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74943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Taxa de retenção de informações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C00FF-6B42-7D84-7831-AACC4E18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9489" y="457199"/>
            <a:ext cx="5943599" cy="192024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Dicas e conclusões finais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CC7FC500-BBFB-3AA4-BEDE-038CB94FFF61}"/>
              </a:ext>
            </a:extLst>
          </p:cNvPr>
          <p:cNvSpPr>
            <a:spLocks noGrp="1" noChangeAspect="1"/>
          </p:cNvSpPr>
          <p:nvPr>
            <p:ph idx="17"/>
          </p:nvPr>
        </p:nvSpPr>
        <p:spPr>
          <a:xfrm>
            <a:off x="823108" y="640080"/>
            <a:ext cx="4297680" cy="429768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Busque feedbacks</a:t>
            </a:r>
          </a:p>
          <a:p>
            <a:pPr rtl="0">
              <a:lnSpc>
                <a:spcPct val="80000"/>
              </a:lnSpc>
            </a:pPr>
            <a:r>
              <a:rPr lang="pt-BR" dirty="0"/>
              <a:t>Reflita sobre o desempenho</a:t>
            </a:r>
          </a:p>
          <a:p>
            <a:pPr rtl="0"/>
            <a:r>
              <a:rPr lang="pt-BR" dirty="0"/>
              <a:t>Explore novas técnicas</a:t>
            </a:r>
          </a:p>
          <a:p>
            <a:pPr rtl="0"/>
            <a:r>
              <a:rPr lang="pt-BR" dirty="0"/>
              <a:t>Defina metas pessoais</a:t>
            </a:r>
          </a:p>
          <a:p>
            <a:pPr rtl="0"/>
            <a:r>
              <a:rPr lang="pt-BR" dirty="0"/>
              <a:t>Iterar e adaptar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5C7B5A-A5C3-15D4-DF71-B692D28942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49900" y="2706688"/>
            <a:ext cx="5943600" cy="3382962"/>
          </a:xfrm>
        </p:spPr>
        <p:txBody>
          <a:bodyPr rtlCol="0">
            <a:normAutofit fontScale="92500"/>
          </a:bodyPr>
          <a:lstStyle>
            <a:defPPr>
              <a:defRPr lang="pt-BR"/>
            </a:defPPr>
          </a:lstStyle>
          <a:p>
            <a:pPr rtl="0"/>
            <a:r>
              <a:rPr lang="pt-BR"/>
              <a:t>Prática consistente</a:t>
            </a:r>
          </a:p>
          <a:p>
            <a:pPr lvl="1" rtl="0"/>
            <a:r>
              <a:rPr lang="pt-BR"/>
              <a:t>Fortaleça sua familiaridade</a:t>
            </a:r>
          </a:p>
          <a:p>
            <a:pPr rtl="0"/>
            <a:r>
              <a:rPr lang="pt-BR"/>
              <a:t>Refine o estilo da entrega</a:t>
            </a:r>
          </a:p>
          <a:p>
            <a:pPr lvl="1" rtl="0"/>
            <a:r>
              <a:rPr lang="pt-BR"/>
              <a:t>Ritmo, tom e ênfase</a:t>
            </a:r>
          </a:p>
          <a:p>
            <a:pPr rtl="0"/>
            <a:r>
              <a:rPr lang="pt-BR"/>
              <a:t>Intervalo e transições</a:t>
            </a:r>
          </a:p>
          <a:p>
            <a:pPr lvl="1" rtl="0"/>
            <a:r>
              <a:rPr lang="pt-BR"/>
              <a:t>Busque uma apresentação perfeita e profissional</a:t>
            </a:r>
          </a:p>
          <a:p>
            <a:pPr rtl="0"/>
            <a:r>
              <a:rPr lang="pt-BR"/>
              <a:t>Audiência de prática</a:t>
            </a:r>
          </a:p>
          <a:p>
            <a:pPr lvl="1" rtl="0"/>
            <a:r>
              <a:rPr lang="pt-BR"/>
              <a:t>Peça aos colegas que ouçam e forneçam comentários</a:t>
            </a:r>
          </a:p>
          <a:p>
            <a:pPr lvl="1" rtl="0"/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3261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Métricas de participação de fala</a:t>
            </a:r>
          </a:p>
        </p:txBody>
      </p:sp>
      <p:graphicFrame>
        <p:nvGraphicFramePr>
          <p:cNvPr id="4" name="Espaço Reservado para Tabela 3">
            <a:extLst>
              <a:ext uri="{FF2B5EF4-FFF2-40B4-BE49-F238E27FC236}">
                <a16:creationId xmlns:a16="http://schemas.microsoft.com/office/drawing/2014/main" id="{E45D850A-4F58-6F54-953E-5ADC96B2EE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5623026"/>
              </p:ext>
            </p:extLst>
          </p:nvPr>
        </p:nvGraphicFramePr>
        <p:xfrm>
          <a:off x="1166813" y="2084388"/>
          <a:ext cx="9821228" cy="3886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5307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455307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455307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455307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64770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sz="1800"/>
                        <a:t>Fator de impacto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sz="1800"/>
                        <a:t>Medida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sz="1800"/>
                        <a:t>Meta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sz="1800"/>
                        <a:t>Alcançado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Interação com o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Retenção de conhecimento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Pesquisas pós-apresentação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Classificação média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Taxa de referência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Porcentagem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647700"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Oportunidades de colaboração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Nº de oportunidades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pt-BR"/>
                      </a:defPPr>
                    </a:lstStyle>
                    <a:p>
                      <a:pPr algn="ctr" rtl="0"/>
                      <a:r>
                        <a:rPr lang="pt-BR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Brita Tamm</a:t>
            </a:r>
          </a:p>
          <a:p>
            <a:pPr rtl="0"/>
            <a:r>
              <a:rPr lang="pt-BR"/>
              <a:t>502-555-0152</a:t>
            </a:r>
          </a:p>
          <a:p>
            <a:pPr rtl="0"/>
            <a:r>
              <a:rPr lang="pt-BR"/>
              <a:t>brita@firstupconsultants.com</a:t>
            </a:r>
          </a:p>
          <a:p>
            <a:pPr rtl="0"/>
            <a:r>
              <a:rPr lang="pt-BR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269_TF45331398_Win32" id="{3328EF41-B506-4E00-9D52-63C1C58F8F8A}" vid="{23365FC3-F6F7-46B3-8D20-6B432682BE5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universal</Template>
  <TotalTime>361</TotalTime>
  <Words>714</Words>
  <Application>Microsoft Office PowerPoint</Application>
  <PresentationFormat>Widescreen</PresentationFormat>
  <Paragraphs>161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Tenorite</vt:lpstr>
      <vt:lpstr>Personalizado</vt:lpstr>
      <vt:lpstr>Portal de Notícias com Área Administrativa</vt:lpstr>
      <vt:lpstr>Proposta do Sistema</vt:lpstr>
      <vt:lpstr>Tecnologias Utilizadas</vt:lpstr>
      <vt:lpstr>Modelo de Banco de Dados</vt:lpstr>
      <vt:lpstr>Funcionamento da Área Pública</vt:lpstr>
      <vt:lpstr>Cadastro de Usuário Comum</vt:lpstr>
      <vt:lpstr>Selecionando auxílios visuais</vt:lpstr>
      <vt:lpstr>Envolvendo a audiência</vt:lpstr>
      <vt:lpstr>Técnicas de apresentação eficazes</vt:lpstr>
      <vt:lpstr>Navegando em sessões de P e R</vt:lpstr>
      <vt:lpstr>Impacto ao falar </vt:lpstr>
      <vt:lpstr>Entrega dinâmica</vt:lpstr>
      <vt:lpstr>Dicas e conclusões finais</vt:lpstr>
      <vt:lpstr>Métricas de participação de fala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ADRIEL JHAMES DOS PASSOS SILVA</dc:creator>
  <cp:lastModifiedBy>ADRIEL JHAMES DOS PASSOS SILVA</cp:lastModifiedBy>
  <cp:revision>1</cp:revision>
  <dcterms:created xsi:type="dcterms:W3CDTF">2025-11-25T20:46:08Z</dcterms:created>
  <dcterms:modified xsi:type="dcterms:W3CDTF">2025-11-26T02:47:57Z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